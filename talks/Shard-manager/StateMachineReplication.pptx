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5" r:id="rId3"/>
    <p:sldId id="286" r:id="rId4"/>
    <p:sldId id="261" r:id="rId5"/>
    <p:sldId id="281" r:id="rId6"/>
    <p:sldId id="282" r:id="rId7"/>
    <p:sldId id="283" r:id="rId8"/>
    <p:sldId id="259" r:id="rId9"/>
    <p:sldId id="262" r:id="rId10"/>
    <p:sldId id="284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>
        <p:scale>
          <a:sx n="135" d="100"/>
          <a:sy n="135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FC0A7-14B8-314E-9EA6-CB885A006718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0E954-765D-7447-85AC-06389BB2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0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08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FE98-BBE0-27EB-390D-673D16A9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38DFB-0E5A-DA96-2F76-EC1DB7BB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40410-C8DA-5BDF-0C96-F55194522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Sharding</a:t>
            </a:r>
            <a:r>
              <a:rPr lang="en-US"/>
              <a:t> gives developers more flexibility.</a:t>
            </a:r>
          </a:p>
          <a:p>
            <a:endParaRPr lang="en-US"/>
          </a:p>
          <a:p>
            <a:r>
              <a:rPr lang="en-US"/>
              <a:t>Sharded system can scale with #clusters.</a:t>
            </a:r>
          </a:p>
          <a:p>
            <a:endParaRPr lang="en-US"/>
          </a:p>
          <a:p>
            <a:r>
              <a:rPr lang="en-US"/>
              <a:t>One or more shard can be deployed on one server, depending on their needs, so geo-distributed is possible.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551DF-3C4B-40A4-AAD4-0F4791E63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7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7A90-8402-5657-9396-6B7D3A05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155CB-8FA7-7873-4FFC-2619D454D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44BF7-5D6E-4DB7-4C17-F10E7C043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Sharding</a:t>
            </a:r>
            <a:r>
              <a:rPr lang="en-US"/>
              <a:t> gives developers more flexibility.</a:t>
            </a:r>
          </a:p>
          <a:p>
            <a:endParaRPr lang="en-US"/>
          </a:p>
          <a:p>
            <a:r>
              <a:rPr lang="en-US"/>
              <a:t>Sharded system can scale with #clusters.</a:t>
            </a:r>
          </a:p>
          <a:p>
            <a:endParaRPr lang="en-US"/>
          </a:p>
          <a:p>
            <a:r>
              <a:rPr lang="en-US"/>
              <a:t>One or more shard can be deployed on one server, depending on their needs, so geo-distributed is possible.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48802-C984-0AEC-94A5-2FF2A81D5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5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Sharding</a:t>
            </a:r>
            <a:r>
              <a:rPr lang="en-US"/>
              <a:t> gives developers more flexibility.</a:t>
            </a:r>
          </a:p>
          <a:p>
            <a:endParaRPr lang="en-US"/>
          </a:p>
          <a:p>
            <a:r>
              <a:rPr lang="en-US"/>
              <a:t>Sharded system can scale with #clusters.</a:t>
            </a:r>
          </a:p>
          <a:p>
            <a:endParaRPr lang="en-US"/>
          </a:p>
          <a:p>
            <a:r>
              <a:rPr lang="en-US"/>
              <a:t>One or more shard can be deployed on one server, depending on their needs, so geo-distributed is possible.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5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12B0-574B-C50F-2182-D0AE9B3E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87B21-BA8B-5055-9CB5-C7E7C7C82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A93AA-34F2-4790-107E-098145D8E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Sharding</a:t>
            </a:r>
            <a:r>
              <a:rPr lang="en-US"/>
              <a:t> gives developers more flexibility.</a:t>
            </a:r>
          </a:p>
          <a:p>
            <a:endParaRPr lang="en-US"/>
          </a:p>
          <a:p>
            <a:r>
              <a:rPr lang="en-US"/>
              <a:t>Sharded system can scale with #clusters.</a:t>
            </a:r>
          </a:p>
          <a:p>
            <a:endParaRPr lang="en-US"/>
          </a:p>
          <a:p>
            <a:r>
              <a:rPr lang="en-US"/>
              <a:t>One or more shard can be deployed on one server, depending on their needs, so geo-distributed is possible.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B2C2-2D77-3670-0CAC-ED859882F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03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8FA92-132D-0163-93DD-03CFF941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92CF1-4423-ED90-CB0B-DD8BB4503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E96F2-DCED-0447-EDDC-D8DF82F25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Sharding</a:t>
            </a:r>
            <a:r>
              <a:rPr lang="en-US"/>
              <a:t> gives developers more flexibility.</a:t>
            </a:r>
          </a:p>
          <a:p>
            <a:endParaRPr lang="en-US"/>
          </a:p>
          <a:p>
            <a:r>
              <a:rPr lang="en-US"/>
              <a:t>Sharded system can scale with #clusters.</a:t>
            </a:r>
          </a:p>
          <a:p>
            <a:endParaRPr lang="en-US"/>
          </a:p>
          <a:p>
            <a:r>
              <a:rPr lang="en-US"/>
              <a:t>One or more shard can be deployed on one server, depending on their needs, so geo-distributed is possible.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58499-2E79-329C-FE60-B825DE9CB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27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C98E-90FD-0D9C-2EA6-8E2776B9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5A2AD-7FE0-DC5E-BCC6-25069F25B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E3CB9-A261-F068-DD9F-64D1E4C3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Sharding</a:t>
            </a:r>
            <a:r>
              <a:rPr lang="en-US"/>
              <a:t> gives developers more flexibility.</a:t>
            </a:r>
          </a:p>
          <a:p>
            <a:endParaRPr lang="en-US"/>
          </a:p>
          <a:p>
            <a:r>
              <a:rPr lang="en-US"/>
              <a:t>Sharded system can scale with #clusters.</a:t>
            </a:r>
          </a:p>
          <a:p>
            <a:endParaRPr lang="en-US"/>
          </a:p>
          <a:p>
            <a:r>
              <a:rPr lang="en-US"/>
              <a:t>One or more shard can be deployed on one server, depending on their needs, so geo-distributed is possible.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ACB62-DFA3-927D-7B19-6CC6D4AFA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18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Planned stops are 1000x more frequent than unplanned failures. </a:t>
            </a:r>
          </a:p>
          <a:p>
            <a:r>
              <a:rPr lang="en-US"/>
              <a:t>Existing </a:t>
            </a:r>
            <a:r>
              <a:rPr lang="en-US" err="1"/>
              <a:t>sharding</a:t>
            </a:r>
            <a:r>
              <a:rPr lang="en-US"/>
              <a:t> frameworks cannot perform shard migration without impacting in-flight client requests. </a:t>
            </a:r>
          </a:p>
          <a:p>
            <a:endParaRPr lang="en-US"/>
          </a:p>
          <a:p>
            <a:r>
              <a:rPr lang="en-US"/>
              <a:t>Existing </a:t>
            </a:r>
            <a:r>
              <a:rPr lang="en-US" err="1"/>
              <a:t>sharding</a:t>
            </a:r>
            <a:r>
              <a:rPr lang="en-US"/>
              <a:t> frameworks do not provide sufficient support for geo-distributed applications.</a:t>
            </a:r>
          </a:p>
          <a:p>
            <a:r>
              <a:rPr lang="en-US"/>
              <a:t>Lack of support for geo-distributed applications and inability to maintain application availability during planned events.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Geo-distributed applications are ubiquitous in large-scale internet services.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100% of </a:t>
            </a:r>
            <a:r>
              <a:rPr lang="en-US" err="1"/>
              <a:t>facebook’s</a:t>
            </a:r>
            <a:r>
              <a:rPr lang="en-US"/>
              <a:t> sharded </a:t>
            </a:r>
            <a:r>
              <a:rPr lang="en-US" err="1"/>
              <a:t>applicathons</a:t>
            </a:r>
            <a:r>
              <a:rPr lang="en-US"/>
              <a:t> are deployed to multiple regions.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36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Placement &amp; load-balancing</a:t>
            </a:r>
          </a:p>
          <a:p>
            <a:endParaRPr lang="en-US"/>
          </a:p>
          <a:p>
            <a:r>
              <a:rPr lang="en-US"/>
              <a:t>Most </a:t>
            </a:r>
            <a:r>
              <a:rPr lang="en-US" err="1"/>
              <a:t>sharding</a:t>
            </a:r>
            <a:r>
              <a:rPr lang="en-US"/>
              <a:t> frameworks use hand-crafted PLB heuristics, which are easy to start with but become brittle and hard to extend over time. </a:t>
            </a:r>
          </a:p>
          <a:p>
            <a:endParaRPr lang="en-US"/>
          </a:p>
          <a:p>
            <a:r>
              <a:rPr lang="en-US"/>
              <a:t>Small applications prefer simplicity, whereas mega application often employ high customized features. Attempting to implement all custom features in a single </a:t>
            </a:r>
            <a:r>
              <a:rPr lang="en-US" err="1"/>
              <a:t>sharding</a:t>
            </a:r>
            <a:r>
              <a:rPr lang="en-US"/>
              <a:t> framework makes it </a:t>
            </a:r>
            <a:r>
              <a:rPr lang="en-US" err="1"/>
              <a:t>unwiedly</a:t>
            </a:r>
            <a:r>
              <a:rPr lang="en-US"/>
              <a:t> and over complex.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System stability :Cap the number of concurrent shard moves per server and per application to limit churns that may threaten system stability.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Server capacity: The aggregate consumption of all shards on a server should not exceed the server’s capacity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Region preference: SM allows a fine-grained control of placing individual shards at different regions.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Spread of replicas: It’s preferred to place a shard’s replicas across fault domains at all levels, including regions, data centers, and racks.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Planned maintenance: depending on an application’s configuration, SM may proactively drain shards out of a server with pending </a:t>
            </a:r>
            <a:r>
              <a:rPr lang="en-US" err="1"/>
              <a:t>maintendance</a:t>
            </a:r>
            <a:r>
              <a:rPr lang="en-US"/>
              <a:t> or software upgrades.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Utilization threshold: an application may prefer its server utilization to not exceed a threshold, e.g. 90%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Global load balancing: balance load across servers in different regions.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Regional load balancing: balance load across servers within a region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Parallel shard failover: evenly distribute shards on a failed server to multiple other servers for faster recovery.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C784-D686-F6FA-229A-E60EF64A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ACC1F-C794-B775-067D-B0B660BDD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933B4-680C-9D8E-9FBC-28DB63457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Placement &amp; load-balancing</a:t>
            </a:r>
          </a:p>
          <a:p>
            <a:endParaRPr lang="en-US"/>
          </a:p>
          <a:p>
            <a:r>
              <a:rPr lang="en-US"/>
              <a:t>Most </a:t>
            </a:r>
            <a:r>
              <a:rPr lang="en-US" err="1"/>
              <a:t>sharding</a:t>
            </a:r>
            <a:r>
              <a:rPr lang="en-US"/>
              <a:t> frameworks use hand-crafted PLB heuristics, which are easy to start with but become brittle and hard to extend over time. </a:t>
            </a:r>
          </a:p>
          <a:p>
            <a:endParaRPr lang="en-US"/>
          </a:p>
          <a:p>
            <a:r>
              <a:rPr lang="en-US"/>
              <a:t>Small applications prefer simplicity, whereas mega application often employ high customized features. Attempting to implement all custom features in a single </a:t>
            </a:r>
            <a:r>
              <a:rPr lang="en-US" err="1"/>
              <a:t>sharding</a:t>
            </a:r>
            <a:r>
              <a:rPr lang="en-US"/>
              <a:t> framework makes it </a:t>
            </a:r>
            <a:r>
              <a:rPr lang="en-US" err="1"/>
              <a:t>unwiedly</a:t>
            </a:r>
            <a:r>
              <a:rPr lang="en-US"/>
              <a:t> and over complex.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System stability :Cap the number of concurrent shard moves per server and per application to limit churns that may threaten system stability.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Server capacity: The aggregate consumption of all shards on a server should not exceed the server’s capacity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Region preference: SM allows a fine-grained control of placing individual shards at different regions.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Spread of replicas: It’s preferred to place a shard’s replicas across fault domains at all levels, including regions, data centers, and racks.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Planned maintenance: depending on an application’s configuration, SM may proactively drain shards out of a server with pending </a:t>
            </a:r>
            <a:r>
              <a:rPr lang="en-US" err="1"/>
              <a:t>maintendance</a:t>
            </a:r>
            <a:r>
              <a:rPr lang="en-US"/>
              <a:t> or software upgrades.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Utilization threshold: an application may prefer its server utilization to not exceed a threshold, e.g. 90%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Global load balancing: balance load across servers in different regions.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Regional load balancing: balance load across servers within a region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Parallel shard failover: evenly distribute shards on a failed server to multiple other servers for faster recovery.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CD543-2A55-D329-6A56-3602FACC8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33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0E954-765D-7447-85AC-06389BB2BB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8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3340-CC9F-E44E-A737-DBDE49EB5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01751-9D32-594D-8E24-7D320E1E0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C6F5-8417-2E47-900B-A54BEED1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98EC-5828-9447-A252-96EA58AD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E5950-6C81-7E45-9DCF-DB49D647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08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67CB-3E6B-FB44-BDA6-ED763B8E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E78E4-0023-5C44-B439-DBC6285E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8FB2E-302B-4448-B8AE-DEE29EAA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63DF-615F-1641-927E-7EB61A87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42B52-8033-C24B-920A-F8DC399E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3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A313-471F-814A-9FFC-DEA8F978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D74C4-1B1A-214F-AC3A-FF8D3705E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A073-B067-934A-AD8B-A62CC10F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7B2B4-9D95-1649-8276-3D44B06D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03D-5B78-A849-BA7A-0F318621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4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BE47-D975-5846-A084-3B0B529A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4FA1-6910-4A47-8698-0CA8E3A6B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625C3-8CE6-0449-8D8D-7A79D2217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51C3A-77C9-A943-A6F4-49C03C9B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1316A-3A01-0F41-86AF-C4C0FCB4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6D3B6-C1E5-3B40-80CD-62C7EABE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371C-C4EF-4944-9275-569A0654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BFB2-2ED5-5745-A6D5-898D2EF0F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5AA02-86E1-B647-AD10-1EC3BC283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5A50D-9C89-3B4B-9B0B-D0DE79EFA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65F95-BC53-734B-9BC1-3AB2A80FE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99FE9-1209-F14D-A985-666C8F1A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1B78-32B0-B740-8F32-3151914F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9AB91-9E86-A840-A679-0566DF9E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8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BF4F-7C7D-734F-81C2-803ACE5C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FDCCC-08CB-2A46-8322-7866CCAE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3D397-397C-9E44-89D9-A4D8783B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9F6D7-CEC5-F440-BEFE-C3887F27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5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7A415-99C0-8049-91AA-6872201A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3B838-8757-D340-982B-7C8CD2D2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AFD0E-5404-BA44-88D1-DE3A24BE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2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FA62-AEC2-7A4E-9F9D-813FD0A66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8DBF-5CDB-B845-A13C-262BC1B8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FE2D1-5A68-EC4A-910A-B5195E60C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FD6AD-2115-A145-8C58-390EE672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3EDAF-72C2-7342-AF8F-49D7C35D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277ED-B9B4-6C43-96C7-5C1651B7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8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1EB7-F2BC-9A4E-BB16-5286FD4A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42092-AC51-BC45-A239-20E8AF234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5FE63-63F8-1A40-8C56-5C16B8503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F150C-4D3D-D343-B5BB-859F268A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540C4-A559-3B43-9D75-D882A852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34240-2750-B045-B23B-2D0165F4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2676-3574-3E4E-A1DE-39E1D476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00749-DEEA-A44B-83E2-30353916C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4096-2FFC-F94A-B686-37F69161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4A3D-9B51-3B47-9835-5BDAB3A97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0802-1AC5-4448-9E29-1326DAD5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8F0B6-E3E7-0F42-9AE3-A15C4D5EA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FA1B0-CF44-3343-AC6C-251E0FE92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C9ECC-6293-9244-92DA-DA165FCF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F3C05-8692-934E-9FEB-F8626F797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7C7CB-33F8-5C43-A645-10A6E4C7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8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B9DE17-5626-054E-9AA7-B8AA492A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D8D8C-C71B-A648-B294-3BF8788CA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5EC7F-A13A-C546-9576-B8DCE66B1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2CB6-1E20-2A4B-A0CC-F53590C14D2B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F53C3-CA3D-AD4B-BE53-1DC6EF502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F6025-D645-9F47-A959-350BCECC7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FD90D-7383-5A45-A5FD-94691C0A6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59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noahcui.github.io/inf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noahcui.github.io/inf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180B4-1127-3841-A42B-EF08E73C0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altLang="zh-CN" sz="5000" dirty="0"/>
              <a:t>SMR(State</a:t>
            </a:r>
            <a:r>
              <a:rPr lang="zh-CN" altLang="en-US" sz="5000" dirty="0"/>
              <a:t> </a:t>
            </a:r>
            <a:r>
              <a:rPr lang="en-US" altLang="zh-CN" sz="5000" dirty="0"/>
              <a:t>Machine</a:t>
            </a:r>
            <a:r>
              <a:rPr lang="zh-CN" altLang="en-US" sz="5000" dirty="0"/>
              <a:t> </a:t>
            </a:r>
            <a:r>
              <a:rPr lang="en-US" altLang="zh-CN" sz="5000" dirty="0"/>
              <a:t>Replication)</a:t>
            </a:r>
            <a:endParaRPr lang="en-US" sz="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70AC71D-F43D-A24D-BC59-43DE6163ECB6}"/>
              </a:ext>
            </a:extLst>
          </p:cNvPr>
          <p:cNvSpPr txBox="1">
            <a:spLocks/>
          </p:cNvSpPr>
          <p:nvPr/>
        </p:nvSpPr>
        <p:spPr>
          <a:xfrm>
            <a:off x="1966912" y="5748033"/>
            <a:ext cx="8258176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Presented by </a:t>
            </a:r>
            <a:r>
              <a:rPr lang="en-US" sz="1200" err="1"/>
              <a:t>Bocheng</a:t>
            </a:r>
            <a:r>
              <a:rPr lang="en-US" sz="1200"/>
              <a:t> Cui</a:t>
            </a:r>
            <a:br>
              <a:rPr lang="en-US" sz="1200"/>
            </a:br>
            <a:r>
              <a:rPr lang="en-US" sz="1200"/>
              <a:t>PhD</a:t>
            </a:r>
            <a:r>
              <a:rPr lang="zh-CN" altLang="en-US" sz="1200"/>
              <a:t> </a:t>
            </a:r>
            <a:r>
              <a:rPr lang="en-US" altLang="zh-CN" sz="1200"/>
              <a:t>Student</a:t>
            </a:r>
            <a:r>
              <a:rPr lang="en-US" sz="1200"/>
              <a:t> in UNH</a:t>
            </a:r>
            <a:br>
              <a:rPr lang="en-US" sz="1200"/>
            </a:br>
            <a:r>
              <a:rPr lang="en-US" sz="1200">
                <a:hlinkClick r:id="rId3"/>
              </a:rPr>
              <a:t>noahcui.github.io/info</a:t>
            </a:r>
            <a:endParaRPr lang="en-US" sz="1200"/>
          </a:p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0295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3E012-951D-D0B8-1731-D2B9D37D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lowchart: Document 59">
            <a:extLst>
              <a:ext uri="{FF2B5EF4-FFF2-40B4-BE49-F238E27FC236}">
                <a16:creationId xmlns:a16="http://schemas.microsoft.com/office/drawing/2014/main" id="{826C68DA-4DF2-E375-39D1-B0E402EAF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A9D65-9C7B-00EC-7AF9-1CB7FE89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Familiar?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55B9D-3DC4-D37B-14CE-81828BD5E7AB}"/>
              </a:ext>
            </a:extLst>
          </p:cNvPr>
          <p:cNvSpPr txBox="1"/>
          <p:nvPr/>
        </p:nvSpPr>
        <p:spPr>
          <a:xfrm>
            <a:off x="4920345" y="1580876"/>
            <a:ext cx="5854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Please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sign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your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name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on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the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sheet,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system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of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the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gym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is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down.</a:t>
            </a:r>
            <a:endParaRPr lang="en-US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Planned scheduled maintenance upgrades for CS servers.</a:t>
            </a:r>
            <a:r>
              <a:rPr lang="zh-CN" alt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Agate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will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not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be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available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until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we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finish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the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updating.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This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will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take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probably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30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~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40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mins.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favorite</a:t>
            </a:r>
            <a:r>
              <a:rPr lang="zh-CN" altLang="en-US" dirty="0"/>
              <a:t> </a:t>
            </a:r>
            <a:r>
              <a:rPr lang="en-US" altLang="zh-CN" dirty="0"/>
              <a:t>online</a:t>
            </a:r>
            <a:r>
              <a:rPr lang="zh-CN" altLang="en-US" dirty="0"/>
              <a:t> </a:t>
            </a:r>
            <a:r>
              <a:rPr lang="en-US" altLang="zh-CN" dirty="0"/>
              <a:t>video</a:t>
            </a:r>
            <a:r>
              <a:rPr lang="zh-CN" altLang="en-US" dirty="0"/>
              <a:t> </a:t>
            </a:r>
            <a:r>
              <a:rPr lang="en-US" altLang="zh-CN" dirty="0"/>
              <a:t>game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update</a:t>
            </a:r>
            <a:r>
              <a:rPr lang="zh-CN" altLang="en-US" dirty="0"/>
              <a:t> </a:t>
            </a:r>
            <a:r>
              <a:rPr lang="en-US" altLang="zh-CN" dirty="0"/>
              <a:t>starts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8am,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available</a:t>
            </a:r>
            <a:r>
              <a:rPr lang="zh-CN" altLang="en-US" dirty="0"/>
              <a:t> </a:t>
            </a:r>
            <a:r>
              <a:rPr lang="en-US" altLang="zh-CN" dirty="0"/>
              <a:t>until</a:t>
            </a:r>
            <a:r>
              <a:rPr lang="zh-CN" altLang="en-US" dirty="0"/>
              <a:t> </a:t>
            </a:r>
            <a:r>
              <a:rPr lang="en-US" altLang="zh-CN" dirty="0"/>
              <a:t>10.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8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8626C-EB75-19D0-D583-D2D29C4B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lowchart: Document 59">
            <a:extLst>
              <a:ext uri="{FF2B5EF4-FFF2-40B4-BE49-F238E27FC236}">
                <a16:creationId xmlns:a16="http://schemas.microsoft.com/office/drawing/2014/main" id="{9BD0BB4D-AB99-0057-FE7F-24270D04F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2945D-3AC9-CB0B-AFEE-EBEA14C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Did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ever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heard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these?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B4607-0B57-AAA2-055C-0A37D17DCB75}"/>
              </a:ext>
            </a:extLst>
          </p:cNvPr>
          <p:cNvSpPr txBox="1"/>
          <p:nvPr/>
        </p:nvSpPr>
        <p:spPr>
          <a:xfrm>
            <a:off x="4826077" y="1580876"/>
            <a:ext cx="5854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Google</a:t>
            </a:r>
            <a:r>
              <a:rPr lang="zh-CN" alt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is</a:t>
            </a:r>
            <a:r>
              <a:rPr lang="zh-CN" alt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updating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its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server,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you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will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not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able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to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use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YouTube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and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Google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Search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in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the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next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two</a:t>
            </a:r>
            <a:r>
              <a:rPr lang="zh-CN" alt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altLang="zh-CN" dirty="0">
                <a:solidFill>
                  <a:srgbClr val="242424"/>
                </a:solidFill>
                <a:latin typeface="Segoe UI" panose="020B0502040204020203" pitchFamily="34" charset="0"/>
              </a:rPr>
              <a:t>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Planned</a:t>
            </a:r>
            <a:r>
              <a:rPr lang="zh-CN" altLang="en-US" dirty="0"/>
              <a:t> </a:t>
            </a:r>
            <a:r>
              <a:rPr lang="en-US" altLang="zh-CN" dirty="0"/>
              <a:t>scheduled</a:t>
            </a:r>
            <a:r>
              <a:rPr lang="zh-CN" altLang="en-US" dirty="0"/>
              <a:t> </a:t>
            </a:r>
            <a:r>
              <a:rPr lang="en-US" altLang="zh-CN" dirty="0"/>
              <a:t>maintenance</a:t>
            </a:r>
            <a:r>
              <a:rPr lang="zh-CN" altLang="en-US" dirty="0"/>
              <a:t> </a:t>
            </a:r>
            <a:r>
              <a:rPr lang="en-US" altLang="zh-CN" dirty="0"/>
              <a:t>updates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Amazon,</a:t>
            </a:r>
            <a:r>
              <a:rPr lang="zh-CN" altLang="en-US" dirty="0"/>
              <a:t> </a:t>
            </a:r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come</a:t>
            </a:r>
            <a:r>
              <a:rPr lang="zh-CN" altLang="en-US" dirty="0"/>
              <a:t> </a:t>
            </a:r>
            <a:r>
              <a:rPr lang="en-US" altLang="zh-CN" dirty="0"/>
              <a:t>back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weeks</a:t>
            </a:r>
            <a:r>
              <a:rPr lang="zh-CN" altLang="en-US" dirty="0"/>
              <a:t> </a:t>
            </a:r>
            <a:r>
              <a:rPr lang="en-US" altLang="zh-CN" dirty="0"/>
              <a:t>later.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Bank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Durham’s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down,</a:t>
            </a:r>
            <a:r>
              <a:rPr lang="zh-CN" altLang="en-US" dirty="0"/>
              <a:t> </a:t>
            </a:r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sign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name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amount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money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withdraw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sheet.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6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lowchart: Document 5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8280F-3672-2E43-8B93-358C2E84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</a:t>
            </a:r>
            <a:r>
              <a:rPr lang="zh-CN" alt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SMR?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6B1AF-C37B-5E89-61EB-C5E8FBC8B1BE}"/>
              </a:ext>
            </a:extLst>
          </p:cNvPr>
          <p:cNvSpPr txBox="1"/>
          <p:nvPr/>
        </p:nvSpPr>
        <p:spPr>
          <a:xfrm>
            <a:off x="5231429" y="2551837"/>
            <a:ext cx="58544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State Machine Replication (SMR) or state machine approach is a general method for implementing a fault-tolerant service by replicating servers and coordinating client interactions with server replicas. The approach also provides a framework for understanding and designing replication management protocols.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8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3B19A-FF2B-55EA-833E-F59CBDD0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white background with white circles and a black background&#10;&#10;Description automatically generated">
            <a:extLst>
              <a:ext uri="{FF2B5EF4-FFF2-40B4-BE49-F238E27FC236}">
                <a16:creationId xmlns:a16="http://schemas.microsoft.com/office/drawing/2014/main" id="{05BF407B-AA76-69C0-4D44-9CA365E46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190" y="1392939"/>
            <a:ext cx="9674571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66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A3407-D299-92A9-BEA1-06643746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and white diagram of a cloud&#10;&#10;Description automatically generated">
            <a:extLst>
              <a:ext uri="{FF2B5EF4-FFF2-40B4-BE49-F238E27FC236}">
                <a16:creationId xmlns:a16="http://schemas.microsoft.com/office/drawing/2014/main" id="{C152A727-FC3F-76C2-26E6-F831767EC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984" y="1203848"/>
            <a:ext cx="6159589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FBB44-6EE2-1196-5EE7-4096758C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857B412-6F7C-CAD0-00E5-710280D25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7976860-BE63-9273-E0AB-53793AB76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650" y="1130300"/>
            <a:ext cx="63627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19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F7834-02DD-B24D-9C8F-769C1F14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Solutions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BC8B9-B799-0A19-E9E6-BA5823BC6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700213"/>
            <a:ext cx="3698449" cy="4351338"/>
          </a:xfrm>
        </p:spPr>
        <p:txBody>
          <a:bodyPr/>
          <a:lstStyle/>
          <a:p>
            <a:r>
              <a:rPr lang="en-US" altLang="zh-CN" dirty="0"/>
              <a:t>Paxos</a:t>
            </a:r>
          </a:p>
          <a:p>
            <a:r>
              <a:rPr lang="en-US" altLang="zh-CN" dirty="0"/>
              <a:t>Multi-Paxos</a:t>
            </a:r>
          </a:p>
          <a:p>
            <a:r>
              <a:rPr lang="en-US" altLang="zh-CN" dirty="0"/>
              <a:t>Raft</a:t>
            </a:r>
          </a:p>
          <a:p>
            <a:r>
              <a:rPr lang="en-US" altLang="zh-CN" dirty="0"/>
              <a:t>Mencius</a:t>
            </a:r>
          </a:p>
          <a:p>
            <a:r>
              <a:rPr lang="en-US" altLang="zh-CN" dirty="0"/>
              <a:t>Simplified</a:t>
            </a:r>
            <a:r>
              <a:rPr lang="zh-CN" altLang="en-US" dirty="0"/>
              <a:t> </a:t>
            </a:r>
            <a:r>
              <a:rPr lang="en-US" altLang="zh-CN" dirty="0"/>
              <a:t>Mencius</a:t>
            </a:r>
          </a:p>
          <a:p>
            <a:r>
              <a:rPr lang="en-US" altLang="zh-C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46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F7834-02DD-B24D-9C8F-769C1F14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</a:rPr>
              <a:t>Requirements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F4A09-2705-254C-B79A-F4E24A7C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225" y="1010653"/>
            <a:ext cx="7467600" cy="5111014"/>
          </a:xfrm>
        </p:spPr>
        <p:txBody>
          <a:bodyPr>
            <a:normAutofit/>
          </a:bodyPr>
          <a:lstStyle/>
          <a:p>
            <a:r>
              <a:rPr lang="en-US" altLang="zh-CN" dirty="0"/>
              <a:t>All replicas in SMR must operate as deterministic state machines.</a:t>
            </a:r>
          </a:p>
          <a:p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commit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execute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request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made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agreement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Majority</a:t>
            </a:r>
          </a:p>
          <a:p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guarantee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order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requests.</a:t>
            </a:r>
          </a:p>
          <a:p>
            <a:r>
              <a:rPr lang="en-US" altLang="zh-CN" dirty="0"/>
              <a:t>Reliable.</a:t>
            </a:r>
          </a:p>
          <a:p>
            <a:r>
              <a:rPr lang="en-US" altLang="zh-CN" dirty="0"/>
              <a:t>Handling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re-join(Dynamic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nodes).</a:t>
            </a:r>
          </a:p>
        </p:txBody>
      </p:sp>
    </p:spTree>
    <p:extLst>
      <p:ext uri="{BB962C8B-B14F-4D97-AF65-F5344CB8AC3E}">
        <p14:creationId xmlns:p14="http://schemas.microsoft.com/office/powerpoint/2010/main" val="243997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74940-D83B-9A65-601E-5B1F3788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5E3DA185-EA76-3B27-F7E8-154C6A0FA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02450-302C-B045-A574-F0BD7D2C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</a:rPr>
              <a:t>Cost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9FA21-E2C6-7A97-4A9F-5E7D7033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225" y="1010653"/>
            <a:ext cx="7467600" cy="5111014"/>
          </a:xfrm>
        </p:spPr>
        <p:txBody>
          <a:bodyPr>
            <a:normAutofit/>
          </a:bodyPr>
          <a:lstStyle/>
          <a:p>
            <a:r>
              <a:rPr lang="en-US" altLang="zh-CN" dirty="0"/>
              <a:t>Performance(Throughput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Latency)</a:t>
            </a:r>
          </a:p>
          <a:p>
            <a:r>
              <a:rPr lang="en-US" altLang="zh-CN" dirty="0"/>
              <a:t>Resources</a:t>
            </a:r>
            <a:r>
              <a:rPr lang="zh-CN" altLang="en-US" dirty="0"/>
              <a:t> </a:t>
            </a:r>
            <a:r>
              <a:rPr lang="en-US" altLang="zh-CN" dirty="0"/>
              <a:t>per</a:t>
            </a:r>
            <a:r>
              <a:rPr lang="zh-CN" altLang="en-US" dirty="0"/>
              <a:t> </a:t>
            </a:r>
            <a:r>
              <a:rPr lang="en-US" altLang="zh-CN" dirty="0"/>
              <a:t>request</a:t>
            </a:r>
          </a:p>
          <a:p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Coders</a:t>
            </a:r>
          </a:p>
          <a:p>
            <a:r>
              <a:rPr lang="en-US" altLang="zh-CN" dirty="0"/>
              <a:t>Reliable</a:t>
            </a:r>
            <a:r>
              <a:rPr lang="zh-CN" altLang="en-US" dirty="0"/>
              <a:t> </a:t>
            </a:r>
            <a:r>
              <a:rPr lang="en-US" altLang="zh-CN" dirty="0"/>
              <a:t>communication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nodes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algorithms</a:t>
            </a:r>
            <a:r>
              <a:rPr lang="zh-CN" altLang="en-US" dirty="0"/>
              <a:t> </a:t>
            </a:r>
            <a:r>
              <a:rPr lang="en-US" altLang="zh-CN" dirty="0"/>
              <a:t>reduce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them.</a:t>
            </a:r>
          </a:p>
        </p:txBody>
      </p:sp>
    </p:spTree>
    <p:extLst>
      <p:ext uri="{BB962C8B-B14F-4D97-AF65-F5344CB8AC3E}">
        <p14:creationId xmlns:p14="http://schemas.microsoft.com/office/powerpoint/2010/main" val="1802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B49E9-24A4-4B4A-9EF5-9319007B7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3622C-6B05-AC4F-9838-544DD167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/>
              <a:t>Presented by Bocheng Cui</a:t>
            </a:r>
            <a:br>
              <a:rPr lang="en-US"/>
            </a:br>
            <a:r>
              <a:rPr lang="en-US"/>
              <a:t>PhD student in UNH</a:t>
            </a:r>
            <a:br>
              <a:rPr lang="en-US"/>
            </a:br>
            <a:r>
              <a:rPr lang="en-US">
                <a:hlinkClick r:id="rId3"/>
              </a:rPr>
              <a:t>noahcui.github.io/info</a:t>
            </a:r>
            <a:endParaRPr lang="en-US"/>
          </a:p>
          <a:p>
            <a:pPr algn="l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E0CB186-DF84-0419-AE54-E5035B61E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9E2E574D-5F49-4C6F-95DE-EC4F0C2BA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8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2703</TotalTime>
  <Words>1066</Words>
  <Application>Microsoft Macintosh PowerPoint</Application>
  <PresentationFormat>Widescreen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Office Theme</vt:lpstr>
      <vt:lpstr>SMR(State Machine Replication)</vt:lpstr>
      <vt:lpstr>Familiar?</vt:lpstr>
      <vt:lpstr>Did you ever heard of these?</vt:lpstr>
      <vt:lpstr>What is SMR?</vt:lpstr>
      <vt:lpstr>PowerPoint Presentation</vt:lpstr>
      <vt:lpstr>PowerPoint Presentation</vt:lpstr>
      <vt:lpstr>PowerPoint Presentation</vt:lpstr>
      <vt:lpstr>Solutions</vt:lpstr>
      <vt:lpstr>Requirements</vt:lpstr>
      <vt:lpstr>Cost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Noah Cui</dc:creator>
  <cp:lastModifiedBy>Bocheng Cui</cp:lastModifiedBy>
  <cp:revision>23</cp:revision>
  <dcterms:created xsi:type="dcterms:W3CDTF">2022-03-19T18:29:18Z</dcterms:created>
  <dcterms:modified xsi:type="dcterms:W3CDTF">2024-11-12T22:19:09Z</dcterms:modified>
</cp:coreProperties>
</file>